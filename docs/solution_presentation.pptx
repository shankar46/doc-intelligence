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Intelligent Document Extraction, Validation &amp; API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AI Engineer Internship — Technical Case Study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292608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0"/>
              </a:spcAft>
              <a:defRPr sz="3000" b="1"/>
            </a:pPr>
            <a:r>
              <a:t>Document Intelligence Platform</a:t>
            </a:r>
          </a:p>
          <a:p>
            <a:pPr algn="ctr">
              <a:defRPr sz="2200"/>
            </a:pPr>
            <a:r>
              <a:t>Invoice • Balance Sheet • Profit &amp; Loss • Cash Flow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Problem &amp;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Automate extraction from native and scanned financial documents.</a:t>
            </a:r>
          </a:p>
          <a:p>
            <a:pPr>
              <a:spcAft>
                <a:spcPts val="1000"/>
              </a:spcAft>
              <a:defRPr sz="2000"/>
            </a:pPr>
            <a:r>
              <a:t>Return complete, structured key-value and table data with evidence.</a:t>
            </a:r>
          </a:p>
          <a:p>
            <a:pPr>
              <a:spcAft>
                <a:spcPts val="1000"/>
              </a:spcAft>
              <a:defRPr sz="2000"/>
            </a:pPr>
            <a:r>
              <a:t>Validate financial relationships without inventing missing values.</a:t>
            </a:r>
          </a:p>
          <a:p>
            <a:pPr>
              <a:spcAft>
                <a:spcPts val="1000"/>
              </a:spcAft>
              <a:defRPr sz="2000"/>
            </a:pPr>
            <a:r>
              <a:t>Persist results and expose them through a deployed dashboard and REST APIs.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End-to-End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Upload → File Validation → Native Text / Tesseract OCR</a:t>
            </a:r>
          </a:p>
          <a:p>
            <a:pPr>
              <a:spcAft>
                <a:spcPts val="1000"/>
              </a:spcAft>
              <a:defRPr sz="2000"/>
            </a:pPr>
            <a:r>
              <a:t>Structured Extraction → Evidence / Page Grounding</a:t>
            </a:r>
          </a:p>
          <a:p>
            <a:pPr>
              <a:spcAft>
                <a:spcPts val="1000"/>
              </a:spcAft>
              <a:defRPr sz="2000"/>
            </a:pPr>
            <a:r>
              <a:t>Financial Validation → Persistence (SQLAlchemy / SQLite)</a:t>
            </a:r>
          </a:p>
          <a:p>
            <a:pPr>
              <a:spcAft>
                <a:spcPts val="1000"/>
              </a:spcAft>
              <a:defRPr sz="2000"/>
            </a:pPr>
            <a:r>
              <a:t>Dashboard + REST API + Swagger/OpenAPI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Extraction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PDF text is used when the page contains sufficient native text.</a:t>
            </a:r>
          </a:p>
          <a:p>
            <a:pPr>
              <a:spcAft>
                <a:spcPts val="1000"/>
              </a:spcAft>
              <a:defRPr sz="2000"/>
            </a:pPr>
            <a:r>
              <a:t>Scanned pages are rendered at 300 DPI and processed with Tesseract PSM 4.</a:t>
            </a:r>
          </a:p>
          <a:p>
            <a:pPr>
              <a:spcAft>
                <a:spcPts val="1000"/>
              </a:spcAft>
              <a:defRPr sz="2000"/>
            </a:pPr>
            <a:r>
              <a:t>Balance Sheet scans use deterministic table parsing because annual-report columns are highly structured.</a:t>
            </a:r>
          </a:p>
          <a:p>
            <a:pPr>
              <a:spcAft>
                <a:spcPts val="1000"/>
              </a:spcAft>
              <a:defRPr sz="2000"/>
            </a:pPr>
            <a:r>
              <a:t>LLM extraction remains available for other document types through an OpenAI-compatible provider.</a:t>
            </a:r>
          </a:p>
          <a:p>
            <a:pPr>
              <a:spcAft>
                <a:spcPts val="1000"/>
              </a:spcAft>
              <a:defRPr sz="2000"/>
            </a:pPr>
            <a:r>
              <a:t>Fallback extraction reads only OCR/document text — never the extraction prompt or schema.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Debugging the Original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Original fallback regex searched the complete LLM prompt.</a:t>
            </a:r>
          </a:p>
          <a:p>
            <a:pPr>
              <a:spcAft>
                <a:spcPts val="1000"/>
              </a:spcAft>
              <a:defRPr sz="2000"/>
            </a:pPr>
            <a:r>
              <a:t>Schema/schedule text such as “assets 10” and “liabilities 12” became fake financial values.</a:t>
            </a:r>
          </a:p>
          <a:p>
            <a:pPr>
              <a:spcAft>
                <a:spcPts val="1000"/>
              </a:spcAft>
              <a:defRPr sz="2000"/>
            </a:pPr>
            <a:r>
              <a:t>Signature text was incorrectly captured as customer_name.</a:t>
            </a:r>
          </a:p>
          <a:p>
            <a:pPr>
              <a:spcAft>
                <a:spcPts val="1000"/>
              </a:spcAft>
              <a:defRPr sz="2000"/>
            </a:pPr>
            <a:r>
              <a:t>The fix isolates OCR text from prompt text and adds document-type-aware table parsing.</a:t>
            </a:r>
          </a:p>
          <a:p>
            <a:pPr>
              <a:spcAft>
                <a:spcPts val="1000"/>
              </a:spcAft>
              <a:defRPr sz="2000"/>
            </a:pPr>
            <a:r>
              <a:t>A regression test now prevents prompt-derived financial values.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5. Financial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Balance Sheet: Total Capital &amp; Liabilities ≈ Total Assets, independently per period.</a:t>
            </a:r>
          </a:p>
          <a:p>
            <a:pPr>
              <a:spcAft>
                <a:spcPts val="1000"/>
              </a:spcAft>
              <a:defRPr sz="2000"/>
            </a:pPr>
            <a:r>
              <a:t>Invoice: line calculations and subtotal/tax/discount/total reconciliation, including explicit tax-included cases.</a:t>
            </a:r>
          </a:p>
          <a:p>
            <a:pPr>
              <a:spcAft>
                <a:spcPts val="1000"/>
              </a:spcAft>
              <a:defRPr sz="2000"/>
            </a:pPr>
            <a:r>
              <a:t>Profit &amp; Loss: the five formulas specified by the case study.</a:t>
            </a:r>
          </a:p>
          <a:p>
            <a:pPr>
              <a:spcAft>
                <a:spcPts val="1000"/>
              </a:spcAft>
              <a:defRPr sz="2000"/>
            </a:pPr>
            <a:r>
              <a:t>Cash Flow: operating + investing + financing + FX adjustment, then opening + net change + applicable adjustments.</a:t>
            </a:r>
          </a:p>
          <a:p>
            <a:pPr>
              <a:spcAft>
                <a:spcPts val="1000"/>
              </a:spcAft>
              <a:defRPr sz="2000"/>
            </a:pPr>
            <a:r>
              <a:t>Missing operands produce NOT_APPLICABLE; values are never fabricated.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6. Supplied Balance Sheet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2017: 8,923,441,607 = 8,923,441,607 — PASS</a:t>
            </a:r>
          </a:p>
          <a:p>
            <a:pPr>
              <a:spcAft>
                <a:spcPts val="1000"/>
              </a:spcAft>
              <a:defRPr sz="2000"/>
            </a:pPr>
            <a:r>
              <a:t>2018: 11,031,861,695 = 11,031,861,695 — PASS</a:t>
            </a:r>
          </a:p>
          <a:p>
            <a:pPr>
              <a:spcAft>
                <a:spcPts val="1000"/>
              </a:spcAft>
              <a:defRPr sz="2000"/>
            </a:pPr>
            <a:r>
              <a:t>2019: 12,928,057,065 = 12,928,057,065 — PASS</a:t>
            </a:r>
          </a:p>
          <a:p>
            <a:pPr>
              <a:spcAft>
                <a:spcPts val="1000"/>
              </a:spcAft>
              <a:defRPr sz="2000"/>
            </a:pPr>
            <a:r>
              <a:t>2020: 15,808,304,373 = 15,808,304,373 — PASS</a:t>
            </a:r>
          </a:p>
          <a:p>
            <a:pPr>
              <a:spcAft>
                <a:spcPts val="1000"/>
              </a:spcAft>
              <a:defRPr sz="2000"/>
            </a:pPr>
            <a:r>
              <a:t>2021: 17,995,066,442 = 17,995,066,442 — PASS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7. API &amp;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POST /api/v1/documents/process — multipart upload + document type</a:t>
            </a:r>
          </a:p>
          <a:p>
            <a:pPr>
              <a:spcAft>
                <a:spcPts val="1000"/>
              </a:spcAft>
              <a:defRPr sz="2000"/>
            </a:pPr>
            <a:r>
              <a:t>GET /api/v1/documents/{document_name} — latest persisted result</a:t>
            </a:r>
          </a:p>
          <a:p>
            <a:pPr>
              <a:spcAft>
                <a:spcPts val="1000"/>
              </a:spcAft>
              <a:defRPr sz="2000"/>
            </a:pPr>
            <a:r>
              <a:t>GET /api/v1/documents — dashboard records</a:t>
            </a:r>
          </a:p>
          <a:p>
            <a:pPr>
              <a:spcAft>
                <a:spcPts val="1000"/>
              </a:spcAft>
              <a:defRPr sz="2000"/>
            </a:pPr>
            <a:r>
              <a:t>GET /api/v1/health — deployment health check</a:t>
            </a:r>
          </a:p>
          <a:p>
            <a:pPr>
              <a:spcAft>
                <a:spcPts val="1000"/>
              </a:spcAft>
              <a:defRPr sz="2000"/>
            </a:pPr>
            <a:r>
              <a:t>Dashboard includes extracted fields, financial statement tables, validations, evidence, and raw JSON.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8. Quality, Security &amp;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15 automated tests pass locally; one optional provider-client test is skipped when the SDK is absent.</a:t>
            </a:r>
          </a:p>
          <a:p>
            <a:pPr>
              <a:spcAft>
                <a:spcPts val="1000"/>
              </a:spcAft>
              <a:defRPr sz="2000"/>
            </a:pPr>
            <a:r>
              <a:t>Controlled 4xx errors for unsupported, empty, oversized, over-limit, or corrupted uploads.</a:t>
            </a:r>
          </a:p>
          <a:p>
            <a:pPr>
              <a:spcAft>
                <a:spcPts val="1000"/>
              </a:spcAft>
              <a:defRPr sz="2000"/>
            </a:pPr>
            <a:r>
              <a:t>No stack traces or secrets are exposed to end users.</a:t>
            </a:r>
          </a:p>
          <a:p>
            <a:pPr>
              <a:spcAft>
                <a:spcPts val="1000"/>
              </a:spcAft>
              <a:defRPr sz="2000"/>
            </a:pPr>
            <a:r>
              <a:t>Real API flow verified with the supplied 2020 Balance Sheet: POST, GET, health, and Swagger.</a:t>
            </a:r>
          </a:p>
          <a:p>
            <a:pPr>
              <a:spcAft>
                <a:spcPts val="1000"/>
              </a:spcAft>
              <a:defRPr sz="2000"/>
            </a:pPr>
            <a:r>
              <a:t>Real API token removed from .env.example; deployment secrets must be configured outside source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9. Deployment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Dockerfile and Render configuration are included.</a:t>
            </a:r>
          </a:p>
          <a:p>
            <a:pPr>
              <a:spcAft>
                <a:spcPts val="1000"/>
              </a:spcAft>
              <a:defRPr sz="2000"/>
            </a:pPr>
            <a:r>
              <a:t>Set HUGGINGFACE_API_KEY only in the deployment platform secret/environment settings.</a:t>
            </a:r>
          </a:p>
          <a:p>
            <a:pPr>
              <a:spcAft>
                <a:spcPts val="1000"/>
              </a:spcAft>
              <a:defRPr sz="2000"/>
            </a:pPr>
            <a:r>
              <a:t>Verify live frontend, API, Swagger, health, upload, persistence, and GET-by-name flows.</a:t>
            </a:r>
          </a:p>
          <a:p>
            <a:pPr>
              <a:spcAft>
                <a:spcPts val="1000"/>
              </a:spcAft>
              <a:defRPr sz="2000"/>
            </a:pPr>
            <a:r>
              <a:t>Before submission, publish the repository and replace the README deployment placeholders with live URLs.</a:t>
            </a:r>
          </a:p>
          <a:p>
            <a:pPr>
              <a:spcAft>
                <a:spcPts val="1000"/>
              </a:spcAft>
              <a:defRPr sz="2000"/>
            </a:pPr>
            <a:r>
              <a:t>Be ready to explain OCR, extraction prompts, validation formulas, database design, deployment, and debugging.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